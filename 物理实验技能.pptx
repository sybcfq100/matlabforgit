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79" r:id="rId7"/>
    <p:sldId id="264" r:id="rId8"/>
    <p:sldId id="265" r:id="rId9"/>
    <p:sldId id="280" r:id="rId10"/>
    <p:sldId id="281" r:id="rId11"/>
    <p:sldId id="282" r:id="rId12"/>
    <p:sldId id="266" r:id="rId13"/>
    <p:sldId id="283" r:id="rId14"/>
    <p:sldId id="284" r:id="rId15"/>
    <p:sldId id="285" r:id="rId16"/>
    <p:sldId id="267" r:id="rId17"/>
    <p:sldId id="286" r:id="rId18"/>
    <p:sldId id="269" r:id="rId19"/>
    <p:sldId id="270" r:id="rId20"/>
    <p:sldId id="277" r:id="rId21"/>
    <p:sldId id="278" r:id="rId22"/>
  </p:sldIdLst>
  <p:sldSz cx="11557000" cy="6502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13" d="100"/>
          <a:sy n="113" d="100"/>
        </p:scale>
        <p:origin x="702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>
                <a:alpha val="100000"/>
              </a:srgbClr>
            </a:gs>
            <a:gs pos="100000">
              <a:srgbClr val="FF8A65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434" y="848741"/>
            <a:ext cx="4485765" cy="5123023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838649" y="3022600"/>
            <a:ext cx="4939851" cy="1751243"/>
            <a:chOff x="890651" y="3322574"/>
            <a:chExt cx="4939851" cy="1751243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0651" y="3677285"/>
              <a:ext cx="3958398" cy="265280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573403" y="3322574"/>
              <a:ext cx="2516632" cy="4616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 latinLnBrk="1"/>
              <a:r>
                <a:rPr lang="zh-CN" altLang="en-US" sz="3000" b="1" dirty="0">
                  <a:solidFill>
                    <a:srgbClr val="9DC3E6"/>
                  </a:solidFill>
                  <a:latin typeface="Microsoft YaHei"/>
                  <a:ea typeface="Microsoft YaHei"/>
                </a:rPr>
                <a:t>物理竞赛</a:t>
              </a:r>
              <a:endParaRPr lang="en-US" sz="11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73403" y="4465574"/>
              <a:ext cx="2206082" cy="60824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 latinLnBrk="1">
                <a:lnSpc>
                  <a:spcPct val="150000"/>
                </a:lnSpc>
              </a:pPr>
              <a:r>
                <a:rPr lang="zh-CN" altLang="en-US" sz="1400" b="1" dirty="0">
                  <a:solidFill>
                    <a:srgbClr val="000000"/>
                  </a:solidFill>
                  <a:latin typeface="Microsoft YaHei"/>
                  <a:ea typeface="Microsoft YaHei"/>
                </a:rPr>
                <a:t>王  民</a:t>
              </a:r>
              <a:endParaRPr lang="en-US" altLang="zh-CN" sz="1400" b="1" dirty="0">
                <a:solidFill>
                  <a:srgbClr val="000000"/>
                </a:solidFill>
                <a:latin typeface="Microsoft YaHei"/>
                <a:ea typeface="Microsoft YaHei"/>
              </a:endParaRPr>
            </a:p>
            <a:p>
              <a:pPr algn="l" latinLnBrk="1">
                <a:lnSpc>
                  <a:spcPct val="150000"/>
                </a:lnSpc>
              </a:pPr>
              <a:r>
                <a:rPr lang="en-US" altLang="zh-CN" sz="1400" b="1" dirty="0">
                  <a:solidFill>
                    <a:srgbClr val="000000"/>
                  </a:solidFill>
                  <a:latin typeface="Microsoft YaHei"/>
                  <a:ea typeface="Microsoft YaHei"/>
                </a:rPr>
                <a:t>minwang@nwpu.edu.cn</a:t>
              </a:r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87366" y="3639566"/>
              <a:ext cx="743136" cy="360952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0"/>
            <a:ext cx="3273975" cy="5388111"/>
          </a:xfrm>
          <a:prstGeom prst="rect">
            <a:avLst/>
          </a:prstGeom>
        </p:spPr>
      </p:pic>
      <p:grpSp>
        <p:nvGrpSpPr>
          <p:cNvPr id="11" name="Group 2"/>
          <p:cNvGrpSpPr/>
          <p:nvPr/>
        </p:nvGrpSpPr>
        <p:grpSpPr>
          <a:xfrm>
            <a:off x="5029200" y="2692400"/>
            <a:ext cx="1215200" cy="2133600"/>
            <a:chOff x="5029200" y="2692400"/>
            <a:chExt cx="1215200" cy="2133600"/>
          </a:xfrm>
        </p:grpSpPr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9200" y="2730500"/>
              <a:ext cx="1215200" cy="2000562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5270500" y="2692400"/>
              <a:ext cx="436054" cy="2133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latinLnBrk="1"/>
              <a:r>
                <a:rPr lang="en-US" sz="6000">
                  <a:solidFill>
                    <a:srgbClr val="000000"/>
                  </a:solidFill>
                  <a:latin typeface="Microsoft YaHei"/>
                  <a:ea typeface="Microsoft YaHei"/>
                </a:rPr>
                <a:t>目录</a:t>
              </a:r>
              <a:endParaRPr lang="en-US" sz="1100"/>
            </a:p>
          </p:txBody>
        </p:sp>
      </p:grpSp>
      <p:grpSp>
        <p:nvGrpSpPr>
          <p:cNvPr id="14" name="Group 3"/>
          <p:cNvGrpSpPr/>
          <p:nvPr/>
        </p:nvGrpSpPr>
        <p:grpSpPr>
          <a:xfrm>
            <a:off x="7117969" y="1663192"/>
            <a:ext cx="3322130" cy="602356"/>
            <a:chOff x="7117969" y="1663192"/>
            <a:chExt cx="3322130" cy="602356"/>
          </a:xfrm>
        </p:grpSpPr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17969" y="2184273"/>
              <a:ext cx="3138125" cy="81275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7135241" y="1663192"/>
              <a:ext cx="3304858" cy="5334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 latinLnBrk="1"/>
              <a:r>
                <a:rPr lang="en-US" sz="3000" dirty="0">
                  <a:solidFill>
                    <a:srgbClr val="000000"/>
                  </a:solidFill>
                  <a:latin typeface="Microsoft YaHei"/>
                  <a:ea typeface="Microsoft YaHei"/>
                </a:rPr>
                <a:t>1.论文背景</a:t>
              </a:r>
              <a:r>
                <a:rPr lang="en-US" sz="3000" dirty="0">
                  <a:solidFill>
                    <a:srgbClr val="9DC3E6"/>
                  </a:solidFill>
                  <a:latin typeface="Microsoft YaHei"/>
                  <a:ea typeface="Microsoft YaHei"/>
                </a:rPr>
                <a:t>简介</a:t>
              </a:r>
              <a:endParaRPr lang="en-US" sz="1100" dirty="0"/>
            </a:p>
          </p:txBody>
        </p:sp>
      </p:grpSp>
      <p:grpSp>
        <p:nvGrpSpPr>
          <p:cNvPr id="17" name="Group 4"/>
          <p:cNvGrpSpPr/>
          <p:nvPr/>
        </p:nvGrpSpPr>
        <p:grpSpPr>
          <a:xfrm>
            <a:off x="7117969" y="2622042"/>
            <a:ext cx="3263074" cy="601340"/>
            <a:chOff x="7117969" y="2622042"/>
            <a:chExt cx="3263074" cy="601340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17969" y="3142107"/>
              <a:ext cx="3138125" cy="81275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7135241" y="2622042"/>
              <a:ext cx="3245802" cy="5334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 latinLnBrk="1"/>
              <a:r>
                <a:rPr lang="en-US" sz="3000">
                  <a:solidFill>
                    <a:srgbClr val="000000"/>
                  </a:solidFill>
                  <a:latin typeface="Microsoft YaHei"/>
                  <a:ea typeface="Microsoft YaHei"/>
                </a:rPr>
                <a:t>2.研究过程</a:t>
              </a:r>
              <a:r>
                <a:rPr lang="en-US" sz="3000">
                  <a:solidFill>
                    <a:srgbClr val="9DC3E6"/>
                  </a:solidFill>
                  <a:latin typeface="Microsoft YaHei"/>
                  <a:ea typeface="Microsoft YaHei"/>
                </a:rPr>
                <a:t>演示</a:t>
              </a:r>
              <a:endParaRPr lang="en-US" sz="1100"/>
            </a:p>
          </p:txBody>
        </p:sp>
      </p:grpSp>
      <p:grpSp>
        <p:nvGrpSpPr>
          <p:cNvPr id="20" name="Group 5"/>
          <p:cNvGrpSpPr/>
          <p:nvPr/>
        </p:nvGrpSpPr>
        <p:grpSpPr>
          <a:xfrm>
            <a:off x="7117969" y="3583813"/>
            <a:ext cx="3218370" cy="600197"/>
            <a:chOff x="7117969" y="3583813"/>
            <a:chExt cx="3218370" cy="600197"/>
          </a:xfrm>
        </p:grpSpPr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17969" y="4102735"/>
              <a:ext cx="3138125" cy="81275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7135241" y="3583813"/>
              <a:ext cx="3201098" cy="5334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 latinLnBrk="1"/>
              <a:r>
                <a:rPr lang="en-US" sz="3000">
                  <a:solidFill>
                    <a:srgbClr val="000000"/>
                  </a:solidFill>
                  <a:latin typeface="Microsoft YaHei"/>
                  <a:ea typeface="Microsoft YaHei"/>
                </a:rPr>
                <a:t>3.遗留问题</a:t>
              </a:r>
              <a:r>
                <a:rPr lang="en-US" sz="3000">
                  <a:solidFill>
                    <a:srgbClr val="9DC3E6"/>
                  </a:solidFill>
                  <a:latin typeface="Microsoft YaHei"/>
                  <a:ea typeface="Microsoft YaHei"/>
                </a:rPr>
                <a:t>探讨</a:t>
              </a:r>
              <a:endParaRPr lang="en-US" sz="1100"/>
            </a:p>
          </p:txBody>
        </p:sp>
      </p:grpSp>
      <p:grpSp>
        <p:nvGrpSpPr>
          <p:cNvPr id="23" name="Group 6"/>
          <p:cNvGrpSpPr/>
          <p:nvPr/>
        </p:nvGrpSpPr>
        <p:grpSpPr>
          <a:xfrm>
            <a:off x="7122795" y="4516755"/>
            <a:ext cx="3373501" cy="599308"/>
            <a:chOff x="7122795" y="4516755"/>
            <a:chExt cx="3373501" cy="599308"/>
          </a:xfrm>
        </p:grpSpPr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22795" y="5034788"/>
              <a:ext cx="3138125" cy="81275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7139940" y="4516755"/>
              <a:ext cx="3356356" cy="5334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 latinLnBrk="1"/>
              <a:r>
                <a:rPr lang="en-US" sz="3000">
                  <a:solidFill>
                    <a:srgbClr val="000000"/>
                  </a:solidFill>
                  <a:latin typeface="Microsoft YaHei"/>
                  <a:ea typeface="Microsoft YaHei"/>
                </a:rPr>
                <a:t>4.论文归纳</a:t>
              </a:r>
              <a:r>
                <a:rPr lang="en-US" sz="3000">
                  <a:solidFill>
                    <a:srgbClr val="9DC3E6"/>
                  </a:solidFill>
                  <a:latin typeface="Microsoft YaHei"/>
                  <a:ea typeface="Microsoft YaHei"/>
                </a:rPr>
                <a:t>总结</a:t>
              </a:r>
              <a:endParaRPr lang="en-US" sz="1100"/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4" grpId="0" animBg="1"/>
      <p:bldP spid="17" grpId="0" animBg="1"/>
      <p:bldP spid="20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447803"/>
            <a:ext cx="3243915" cy="3704754"/>
          </a:xfrm>
          <a:prstGeom prst="rect">
            <a:avLst/>
          </a:prstGeom>
        </p:spPr>
      </p:pic>
      <p:pic>
        <p:nvPicPr>
          <p:cNvPr id="27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731" y="5384800"/>
            <a:ext cx="5778500" cy="434018"/>
          </a:xfrm>
          <a:prstGeom prst="rect">
            <a:avLst/>
          </a:prstGeom>
        </p:spPr>
      </p:pic>
      <p:pic>
        <p:nvPicPr>
          <p:cNvPr id="28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100" y="3327400"/>
            <a:ext cx="1351331" cy="109294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5B63CD16-DC48-4ED7-BC62-C1ACF74DC282}"/>
              </a:ext>
            </a:extLst>
          </p:cNvPr>
          <p:cNvSpPr/>
          <p:nvPr/>
        </p:nvSpPr>
        <p:spPr>
          <a:xfrm>
            <a:off x="5168900" y="4257687"/>
            <a:ext cx="294102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u="sng" dirty="0">
                <a:solidFill>
                  <a:srgbClr val="0070C0"/>
                </a:solidFill>
              </a:rPr>
              <a:t>官网：https://www.iypt.org/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39CF764-999C-4090-A259-47DC3682D808}"/>
              </a:ext>
            </a:extLst>
          </p:cNvPr>
          <p:cNvSpPr/>
          <p:nvPr/>
        </p:nvSpPr>
        <p:spPr>
          <a:xfrm>
            <a:off x="5168900" y="4742933"/>
            <a:ext cx="53033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rgbClr val="0070C0"/>
                </a:solidFill>
              </a:rPr>
              <a:t>2021 </a:t>
            </a:r>
            <a:r>
              <a:rPr lang="zh-CN" altLang="en-US" dirty="0">
                <a:solidFill>
                  <a:srgbClr val="0070C0"/>
                </a:solidFill>
              </a:rPr>
              <a:t>参考：https://www.bilibili.com/read/cv6914438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36" name="TextBox 2"/>
          <p:cNvSpPr txBox="1"/>
          <p:nvPr/>
        </p:nvSpPr>
        <p:spPr>
          <a:xfrm>
            <a:off x="4266438" y="776224"/>
            <a:ext cx="2846324" cy="353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300" dirty="0">
                <a:solidFill>
                  <a:srgbClr val="000000"/>
                </a:solidFill>
                <a:latin typeface="Microsoft YaHei"/>
                <a:ea typeface="Microsoft YaHei"/>
              </a:rPr>
              <a:t>顺序</a:t>
            </a:r>
            <a:endParaRPr lang="en-US" sz="1100" dirty="0"/>
          </a:p>
        </p:txBody>
      </p:sp>
      <p:pic>
        <p:nvPicPr>
          <p:cNvPr id="37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931924" y="1497203"/>
            <a:ext cx="1595009" cy="2625844"/>
          </a:xfrm>
          <a:prstGeom prst="rect">
            <a:avLst/>
          </a:prstGeom>
        </p:spPr>
      </p:pic>
      <p:pic>
        <p:nvPicPr>
          <p:cNvPr id="38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029073" y="1497203"/>
            <a:ext cx="1595009" cy="2625844"/>
          </a:xfrm>
          <a:prstGeom prst="rect">
            <a:avLst/>
          </a:prstGeom>
        </p:spPr>
      </p:pic>
      <p:pic>
        <p:nvPicPr>
          <p:cNvPr id="39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929623" y="3540761"/>
            <a:ext cx="1595009" cy="2625844"/>
          </a:xfrm>
          <a:prstGeom prst="rect">
            <a:avLst/>
          </a:prstGeom>
        </p:spPr>
      </p:pic>
      <p:pic>
        <p:nvPicPr>
          <p:cNvPr id="40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950177" y="1474964"/>
            <a:ext cx="1595009" cy="2625844"/>
          </a:xfrm>
          <a:prstGeom prst="rect">
            <a:avLst/>
          </a:prstGeom>
        </p:spPr>
      </p:pic>
      <p:pic>
        <p:nvPicPr>
          <p:cNvPr id="41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031359" y="3540760"/>
            <a:ext cx="1595009" cy="2625844"/>
          </a:xfrm>
          <a:prstGeom prst="rect">
            <a:avLst/>
          </a:prstGeom>
        </p:spPr>
      </p:pic>
      <p:pic>
        <p:nvPicPr>
          <p:cNvPr id="42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032369" y="3540887"/>
            <a:ext cx="1595009" cy="2625844"/>
          </a:xfrm>
          <a:prstGeom prst="rect">
            <a:avLst/>
          </a:prstGeom>
        </p:spPr>
      </p:pic>
      <p:grpSp>
        <p:nvGrpSpPr>
          <p:cNvPr id="43" name="Group 9"/>
          <p:cNvGrpSpPr/>
          <p:nvPr/>
        </p:nvGrpSpPr>
        <p:grpSpPr>
          <a:xfrm>
            <a:off x="1752600" y="2618609"/>
            <a:ext cx="2047240" cy="383032"/>
            <a:chOff x="1750187" y="2255774"/>
            <a:chExt cx="2047240" cy="559040"/>
          </a:xfrm>
        </p:grpSpPr>
        <p:sp>
          <p:nvSpPr>
            <p:cNvPr id="44" name="TextBox 43"/>
            <p:cNvSpPr txBox="1"/>
            <p:nvPr/>
          </p:nvSpPr>
          <p:spPr>
            <a:xfrm>
              <a:off x="1750187" y="2255774"/>
              <a:ext cx="1999488" cy="2470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 latinLnBrk="1"/>
              <a:endParaRPr lang="en-US" sz="1100" dirty="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758061" y="2645537"/>
              <a:ext cx="2039366" cy="1692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 latinLnBrk="1"/>
              <a:endParaRPr lang="en-US" sz="1100" dirty="0"/>
            </a:p>
          </p:txBody>
        </p:sp>
      </p:grpSp>
      <p:grpSp>
        <p:nvGrpSpPr>
          <p:cNvPr id="55" name="Group 13"/>
          <p:cNvGrpSpPr/>
          <p:nvPr/>
        </p:nvGrpSpPr>
        <p:grpSpPr>
          <a:xfrm>
            <a:off x="4761111" y="4508956"/>
            <a:ext cx="2039366" cy="627221"/>
            <a:chOff x="4749800" y="4318000"/>
            <a:chExt cx="2039366" cy="627221"/>
          </a:xfrm>
        </p:grpSpPr>
        <p:sp>
          <p:nvSpPr>
            <p:cNvPr id="56" name="TextBox 55"/>
            <p:cNvSpPr txBox="1"/>
            <p:nvPr/>
          </p:nvSpPr>
          <p:spPr>
            <a:xfrm>
              <a:off x="4749800" y="4318000"/>
              <a:ext cx="1999488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latinLnBrk="1"/>
              <a:r>
                <a:rPr lang="zh-CN" altLang="en-US" sz="2000" dirty="0">
                  <a:solidFill>
                    <a:srgbClr val="000000"/>
                  </a:solidFill>
                  <a:latin typeface="Microsoft YaHei"/>
                  <a:ea typeface="Microsoft YaHei"/>
                </a:rPr>
                <a:t>实验和理论验证</a:t>
              </a:r>
              <a:endParaRPr lang="en-US" sz="1100" dirty="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4749800" y="4699000"/>
              <a:ext cx="2039366" cy="2462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latinLnBrk="1"/>
              <a:r>
                <a:rPr lang="zh-CN" altLang="en-US" sz="160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Microsoft YaHei"/>
                  <a:ea typeface="Microsoft YaHei"/>
                </a:rPr>
                <a:t>重点</a:t>
              </a:r>
              <a:endParaRPr lang="en-US" sz="1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58" name="Group 14"/>
          <p:cNvGrpSpPr/>
          <p:nvPr/>
        </p:nvGrpSpPr>
        <p:grpSpPr>
          <a:xfrm>
            <a:off x="7874000" y="4441567"/>
            <a:ext cx="2039366" cy="750332"/>
            <a:chOff x="7874000" y="4318000"/>
            <a:chExt cx="2039366" cy="750332"/>
          </a:xfrm>
        </p:grpSpPr>
        <p:sp>
          <p:nvSpPr>
            <p:cNvPr id="59" name="TextBox 58"/>
            <p:cNvSpPr txBox="1"/>
            <p:nvPr/>
          </p:nvSpPr>
          <p:spPr>
            <a:xfrm>
              <a:off x="7874000" y="4318000"/>
              <a:ext cx="1999488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 latinLnBrk="1"/>
              <a:r>
                <a:rPr lang="zh-CN" altLang="en-US" sz="2000" dirty="0">
                  <a:solidFill>
                    <a:srgbClr val="000000"/>
                  </a:solidFill>
                  <a:latin typeface="Microsoft YaHei"/>
                  <a:ea typeface="Microsoft YaHei"/>
                </a:rPr>
                <a:t>误差分析及结论</a:t>
              </a:r>
              <a:endParaRPr lang="en-US" sz="1100" dirty="0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874000" y="4699000"/>
              <a:ext cx="2039366" cy="3693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 latinLnBrk="1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</a:rPr>
                <a:t>来源，消除，判断；规律，意义</a:t>
              </a:r>
              <a:endParaRPr lang="en-US" sz="1100" dirty="0"/>
            </a:p>
          </p:txBody>
        </p:sp>
      </p:grpSp>
      <p:sp>
        <p:nvSpPr>
          <p:cNvPr id="28" name="TextBox 46">
            <a:extLst>
              <a:ext uri="{FF2B5EF4-FFF2-40B4-BE49-F238E27FC236}">
                <a16:creationId xmlns:a16="http://schemas.microsoft.com/office/drawing/2014/main" id="{CF504B04-EBC4-4812-8768-8ED8E135E605}"/>
              </a:ext>
            </a:extLst>
          </p:cNvPr>
          <p:cNvSpPr txBox="1"/>
          <p:nvPr/>
        </p:nvSpPr>
        <p:spPr>
          <a:xfrm>
            <a:off x="1858044" y="2480109"/>
            <a:ext cx="1996250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浏览并挑选题目</a:t>
            </a:r>
            <a:endParaRPr lang="en-US" altLang="zh-CN" sz="1100" dirty="0"/>
          </a:p>
        </p:txBody>
      </p:sp>
      <p:sp>
        <p:nvSpPr>
          <p:cNvPr id="29" name="TextBox 47">
            <a:extLst>
              <a:ext uri="{FF2B5EF4-FFF2-40B4-BE49-F238E27FC236}">
                <a16:creationId xmlns:a16="http://schemas.microsoft.com/office/drawing/2014/main" id="{6DA701A5-733A-47B8-8E05-FEA1490F0ECB}"/>
              </a:ext>
            </a:extLst>
          </p:cNvPr>
          <p:cNvSpPr txBox="1"/>
          <p:nvPr/>
        </p:nvSpPr>
        <p:spPr>
          <a:xfrm>
            <a:off x="1726658" y="2865043"/>
            <a:ext cx="2088642" cy="1846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1200" dirty="0">
                <a:solidFill>
                  <a:srgbClr val="000000"/>
                </a:solidFill>
                <a:latin typeface="Microsoft YaHei"/>
                <a:ea typeface="Microsoft YaHei"/>
              </a:rPr>
              <a:t>结合个人特长和学科</a:t>
            </a:r>
            <a:endParaRPr lang="en-US" sz="1100" dirty="0"/>
          </a:p>
        </p:txBody>
      </p:sp>
      <p:sp>
        <p:nvSpPr>
          <p:cNvPr id="30" name="TextBox 46">
            <a:extLst>
              <a:ext uri="{FF2B5EF4-FFF2-40B4-BE49-F238E27FC236}">
                <a16:creationId xmlns:a16="http://schemas.microsoft.com/office/drawing/2014/main" id="{A9F01A9A-F1BA-42F1-BF4A-136D8F44CB27}"/>
              </a:ext>
            </a:extLst>
          </p:cNvPr>
          <p:cNvSpPr txBox="1"/>
          <p:nvPr/>
        </p:nvSpPr>
        <p:spPr>
          <a:xfrm>
            <a:off x="1693186" y="4506881"/>
            <a:ext cx="2127636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初步判断理论模型</a:t>
            </a:r>
            <a:endParaRPr lang="en-US" altLang="zh-CN" sz="1100" dirty="0"/>
          </a:p>
        </p:txBody>
      </p:sp>
      <p:sp>
        <p:nvSpPr>
          <p:cNvPr id="31" name="TextBox 47">
            <a:extLst>
              <a:ext uri="{FF2B5EF4-FFF2-40B4-BE49-F238E27FC236}">
                <a16:creationId xmlns:a16="http://schemas.microsoft.com/office/drawing/2014/main" id="{1DC11F98-EF75-4E05-B0F9-24285C63D4F4}"/>
              </a:ext>
            </a:extLst>
          </p:cNvPr>
          <p:cNvSpPr txBox="1"/>
          <p:nvPr/>
        </p:nvSpPr>
        <p:spPr>
          <a:xfrm>
            <a:off x="1693186" y="4891815"/>
            <a:ext cx="2088642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1200" dirty="0">
                <a:solidFill>
                  <a:srgbClr val="000000"/>
                </a:solidFill>
                <a:latin typeface="Microsoft YaHei"/>
                <a:ea typeface="Microsoft YaHei"/>
              </a:rPr>
              <a:t>力学，热学，电磁学，动力学等</a:t>
            </a:r>
            <a:endParaRPr lang="en-US" sz="1100" dirty="0"/>
          </a:p>
        </p:txBody>
      </p:sp>
      <p:grpSp>
        <p:nvGrpSpPr>
          <p:cNvPr id="32" name="Group 11">
            <a:extLst>
              <a:ext uri="{FF2B5EF4-FFF2-40B4-BE49-F238E27FC236}">
                <a16:creationId xmlns:a16="http://schemas.microsoft.com/office/drawing/2014/main" id="{EF526DDC-EAB1-4BF5-8E5D-50EC6F871472}"/>
              </a:ext>
            </a:extLst>
          </p:cNvPr>
          <p:cNvGrpSpPr/>
          <p:nvPr/>
        </p:nvGrpSpPr>
        <p:grpSpPr>
          <a:xfrm>
            <a:off x="7751803" y="2444433"/>
            <a:ext cx="2088642" cy="565666"/>
            <a:chOff x="7878233" y="2480109"/>
            <a:chExt cx="2088642" cy="565666"/>
          </a:xfrm>
        </p:grpSpPr>
        <p:sp>
          <p:nvSpPr>
            <p:cNvPr id="33" name="TextBox 49">
              <a:extLst>
                <a:ext uri="{FF2B5EF4-FFF2-40B4-BE49-F238E27FC236}">
                  <a16:creationId xmlns:a16="http://schemas.microsoft.com/office/drawing/2014/main" id="{0D5B2B8C-E157-4B0E-9278-97007F92AEE9}"/>
                </a:ext>
              </a:extLst>
            </p:cNvPr>
            <p:cNvSpPr txBox="1"/>
            <p:nvPr/>
          </p:nvSpPr>
          <p:spPr>
            <a:xfrm>
              <a:off x="7878233" y="2480109"/>
              <a:ext cx="1996250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latinLnBrk="1"/>
              <a:r>
                <a:rPr lang="zh-CN" altLang="en-US" sz="2000" dirty="0">
                  <a:solidFill>
                    <a:srgbClr val="000000"/>
                  </a:solidFill>
                  <a:latin typeface="Microsoft YaHei"/>
                  <a:ea typeface="Microsoft YaHei"/>
                </a:rPr>
                <a:t>预实验</a:t>
              </a:r>
              <a:endParaRPr lang="en-US" sz="1100" dirty="0"/>
            </a:p>
          </p:txBody>
        </p:sp>
        <p:sp>
          <p:nvSpPr>
            <p:cNvPr id="34" name="TextBox 50">
              <a:extLst>
                <a:ext uri="{FF2B5EF4-FFF2-40B4-BE49-F238E27FC236}">
                  <a16:creationId xmlns:a16="http://schemas.microsoft.com/office/drawing/2014/main" id="{20DF2283-6DCA-4B87-A251-9D50F5482473}"/>
                </a:ext>
              </a:extLst>
            </p:cNvPr>
            <p:cNvSpPr txBox="1"/>
            <p:nvPr/>
          </p:nvSpPr>
          <p:spPr>
            <a:xfrm>
              <a:off x="7878233" y="2861109"/>
              <a:ext cx="2088642" cy="18466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 latinLnBrk="1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</a:rPr>
                <a:t>判断初步结论，条件，参数等</a:t>
              </a:r>
              <a:endParaRPr lang="en-US" sz="1100" dirty="0"/>
            </a:p>
          </p:txBody>
        </p:sp>
      </p:grpSp>
      <p:sp>
        <p:nvSpPr>
          <p:cNvPr id="61" name="TextBox 46">
            <a:extLst>
              <a:ext uri="{FF2B5EF4-FFF2-40B4-BE49-F238E27FC236}">
                <a16:creationId xmlns:a16="http://schemas.microsoft.com/office/drawing/2014/main" id="{D43BF2E5-3FD8-4D5B-B7F5-D99DC5359044}"/>
              </a:ext>
            </a:extLst>
          </p:cNvPr>
          <p:cNvSpPr txBox="1"/>
          <p:nvPr/>
        </p:nvSpPr>
        <p:spPr>
          <a:xfrm>
            <a:off x="4940300" y="2480109"/>
            <a:ext cx="1996250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正确解读题目</a:t>
            </a:r>
            <a:endParaRPr lang="en-US" altLang="zh-CN" sz="1100" dirty="0"/>
          </a:p>
        </p:txBody>
      </p:sp>
      <p:sp>
        <p:nvSpPr>
          <p:cNvPr id="62" name="TextBox 47">
            <a:extLst>
              <a:ext uri="{FF2B5EF4-FFF2-40B4-BE49-F238E27FC236}">
                <a16:creationId xmlns:a16="http://schemas.microsoft.com/office/drawing/2014/main" id="{32973088-3C79-436E-86BE-D5C5AA93E663}"/>
              </a:ext>
            </a:extLst>
          </p:cNvPr>
          <p:cNvSpPr txBox="1"/>
          <p:nvPr/>
        </p:nvSpPr>
        <p:spPr>
          <a:xfrm>
            <a:off x="4808914" y="2865043"/>
            <a:ext cx="2088642" cy="1846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1200" dirty="0">
                <a:solidFill>
                  <a:srgbClr val="000000"/>
                </a:solidFill>
                <a:latin typeface="Microsoft YaHei"/>
                <a:ea typeface="Microsoft YaHei"/>
              </a:rPr>
              <a:t>关键词，目的，方法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55" grpId="0" animBg="1"/>
      <p:bldP spid="58" grpId="0" animBg="1"/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86" name="TextBox 2"/>
          <p:cNvSpPr txBox="1"/>
          <p:nvPr/>
        </p:nvSpPr>
        <p:spPr>
          <a:xfrm>
            <a:off x="4652434" y="812800"/>
            <a:ext cx="2869311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浏览并挑选题目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330F90CA-EFE1-44F3-A983-70B3DF458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900" y="1651000"/>
            <a:ext cx="3046046" cy="2231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53A897-D66A-40D3-9C49-44D026DD6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134" y="4089400"/>
            <a:ext cx="3262040" cy="16764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6EEA499-5C3B-41C0-B8DC-1BA3FFC3AD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4900" y="1651000"/>
            <a:ext cx="3771429" cy="231428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8624A3F-F855-4853-9A49-6D02747897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2767" y="1161014"/>
            <a:ext cx="2414266" cy="2911453"/>
          </a:xfrm>
          <a:prstGeom prst="rect">
            <a:avLst/>
          </a:prstGeom>
        </p:spPr>
      </p:pic>
      <p:pic>
        <p:nvPicPr>
          <p:cNvPr id="16" name="Picture 2" descr="https://dss2.bdstatic.com/70cFvnSh_Q1YnxGkpoWK1HF6hhy/it/u=2053162191,3987187857&amp;fm=26&amp;gp=0.jpg">
            <a:extLst>
              <a:ext uri="{FF2B5EF4-FFF2-40B4-BE49-F238E27FC236}">
                <a16:creationId xmlns:a16="http://schemas.microsoft.com/office/drawing/2014/main" id="{190F029A-1375-442B-9C50-F2B248AC24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823" y="4192623"/>
            <a:ext cx="1676400" cy="1820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https://dss1.bdstatic.com/70cFuXSh_Q1YnxGkpoWK1HF6hhy/it/u=2308046960,918991839&amp;fm=26&amp;gp=0.jpg">
            <a:extLst>
              <a:ext uri="{FF2B5EF4-FFF2-40B4-BE49-F238E27FC236}">
                <a16:creationId xmlns:a16="http://schemas.microsoft.com/office/drawing/2014/main" id="{B9F692C5-3147-4903-A8A1-900876FD2D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1872" y="4336314"/>
            <a:ext cx="1676400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86" name="TextBox 2"/>
          <p:cNvSpPr txBox="1"/>
          <p:nvPr/>
        </p:nvSpPr>
        <p:spPr>
          <a:xfrm>
            <a:off x="4653316" y="812800"/>
            <a:ext cx="2869311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浏览并挑选题目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pic>
        <p:nvPicPr>
          <p:cNvPr id="16" name="Picture 2" descr="https://dss2.bdstatic.com/70cFvnSh_Q1YnxGkpoWK1HF6hhy/it/u=2053162191,3987187857&amp;fm=26&amp;gp=0.jpg">
            <a:extLst>
              <a:ext uri="{FF2B5EF4-FFF2-40B4-BE49-F238E27FC236}">
                <a16:creationId xmlns:a16="http://schemas.microsoft.com/office/drawing/2014/main" id="{190F029A-1375-442B-9C50-F2B248AC24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100" y="1651000"/>
            <a:ext cx="1722521" cy="1870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https://dss1.bdstatic.com/70cFuXSh_Q1YnxGkpoWK1HF6hhy/it/u=2308046960,918991839&amp;fm=26&amp;gp=0.jpg">
            <a:extLst>
              <a:ext uri="{FF2B5EF4-FFF2-40B4-BE49-F238E27FC236}">
                <a16:creationId xmlns:a16="http://schemas.microsoft.com/office/drawing/2014/main" id="{B9F692C5-3147-4903-A8A1-900876FD2D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00" y="4241800"/>
            <a:ext cx="1676400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7FDF828-451A-4E9C-8005-C3A7410A2A0A}"/>
              </a:ext>
            </a:extLst>
          </p:cNvPr>
          <p:cNvCxnSpPr/>
          <p:nvPr/>
        </p:nvCxnSpPr>
        <p:spPr>
          <a:xfrm>
            <a:off x="444295" y="3937000"/>
            <a:ext cx="10668000" cy="0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4EE0CDF-366F-44B0-A87E-1D9F78520F86}"/>
              </a:ext>
            </a:extLst>
          </p:cNvPr>
          <p:cNvCxnSpPr/>
          <p:nvPr/>
        </p:nvCxnSpPr>
        <p:spPr>
          <a:xfrm>
            <a:off x="2806700" y="1727200"/>
            <a:ext cx="0" cy="4191000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628C684A-A5D3-43EB-916F-427AC13D1805}"/>
              </a:ext>
            </a:extLst>
          </p:cNvPr>
          <p:cNvSpPr txBox="1"/>
          <p:nvPr/>
        </p:nvSpPr>
        <p:spPr>
          <a:xfrm>
            <a:off x="3416300" y="2391616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/>
              <a:t>不要害怕</a:t>
            </a:r>
            <a:endParaRPr lang="en-US" altLang="zh-CN" dirty="0"/>
          </a:p>
          <a:p>
            <a:pPr algn="ctr"/>
            <a:r>
              <a:rPr lang="zh-CN" altLang="en-US" dirty="0"/>
              <a:t>反正别人也不一定会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6EFE38C-B268-4D7B-AA5E-6957376E3E75}"/>
              </a:ext>
            </a:extLst>
          </p:cNvPr>
          <p:cNvSpPr txBox="1"/>
          <p:nvPr/>
        </p:nvSpPr>
        <p:spPr>
          <a:xfrm>
            <a:off x="3877965" y="4699000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/>
              <a:t>不要太高兴</a:t>
            </a:r>
            <a:endParaRPr lang="en-US" altLang="zh-CN" dirty="0"/>
          </a:p>
          <a:p>
            <a:pPr algn="ctr"/>
            <a:r>
              <a:rPr lang="zh-CN" altLang="en-US" dirty="0"/>
              <a:t>没那么简单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B2FC8E-CCCF-4CBD-A9EF-3C1598317E78}"/>
              </a:ext>
            </a:extLst>
          </p:cNvPr>
          <p:cNvSpPr txBox="1"/>
          <p:nvPr/>
        </p:nvSpPr>
        <p:spPr>
          <a:xfrm>
            <a:off x="6667837" y="2530115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突破之后就很丝滑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544BEC-BEE4-42D4-9189-9C19CF749F4D}"/>
              </a:ext>
            </a:extLst>
          </p:cNvPr>
          <p:cNvSpPr txBox="1"/>
          <p:nvPr/>
        </p:nvSpPr>
        <p:spPr>
          <a:xfrm>
            <a:off x="6667837" y="4605222"/>
            <a:ext cx="295144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1. </a:t>
            </a:r>
            <a:r>
              <a:rPr lang="zh-CN" altLang="en-US" dirty="0"/>
              <a:t>容易审题不清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参数多，容易考虑不周全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实验方案及规避误差</a:t>
            </a:r>
          </a:p>
        </p:txBody>
      </p:sp>
    </p:spTree>
    <p:extLst>
      <p:ext uri="{BB962C8B-B14F-4D97-AF65-F5344CB8AC3E}">
        <p14:creationId xmlns:p14="http://schemas.microsoft.com/office/powerpoint/2010/main" val="529098945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101" name="TextBox 2"/>
          <p:cNvSpPr txBox="1"/>
          <p:nvPr/>
        </p:nvSpPr>
        <p:spPr>
          <a:xfrm>
            <a:off x="4266438" y="776224"/>
            <a:ext cx="2899982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正确解读题目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pic>
        <p:nvPicPr>
          <p:cNvPr id="102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3999" y="1803908"/>
            <a:ext cx="7960169" cy="944724"/>
          </a:xfrm>
          <a:prstGeom prst="rect">
            <a:avLst/>
          </a:prstGeom>
        </p:spPr>
      </p:pic>
      <p:pic>
        <p:nvPicPr>
          <p:cNvPr id="103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79" y="1962658"/>
            <a:ext cx="1439984" cy="1477962"/>
          </a:xfrm>
          <a:prstGeom prst="rect">
            <a:avLst/>
          </a:prstGeom>
        </p:spPr>
      </p:pic>
      <p:pic>
        <p:nvPicPr>
          <p:cNvPr id="104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8063" y="2653411"/>
            <a:ext cx="1439984" cy="1477962"/>
          </a:xfrm>
          <a:prstGeom prst="rect">
            <a:avLst/>
          </a:prstGeom>
        </p:spPr>
      </p:pic>
      <p:pic>
        <p:nvPicPr>
          <p:cNvPr id="105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4453" y="2285746"/>
            <a:ext cx="1439984" cy="1477962"/>
          </a:xfrm>
          <a:prstGeom prst="rect">
            <a:avLst/>
          </a:prstGeom>
        </p:spPr>
      </p:pic>
      <p:pic>
        <p:nvPicPr>
          <p:cNvPr id="106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2184" y="1803400"/>
            <a:ext cx="1439984" cy="1477962"/>
          </a:xfrm>
          <a:prstGeom prst="rect">
            <a:avLst/>
          </a:prstGeom>
        </p:spPr>
      </p:pic>
      <p:sp>
        <p:nvSpPr>
          <p:cNvPr id="107" name="TextBox 8"/>
          <p:cNvSpPr txBox="1"/>
          <p:nvPr/>
        </p:nvSpPr>
        <p:spPr>
          <a:xfrm>
            <a:off x="1371600" y="2565146"/>
            <a:ext cx="941515" cy="353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en-US" altLang="zh-CN" sz="2300" dirty="0">
                <a:solidFill>
                  <a:srgbClr val="000000"/>
                </a:solidFill>
                <a:latin typeface="Microsoft YaHei"/>
                <a:ea typeface="Microsoft YaHei"/>
              </a:rPr>
              <a:t>1</a:t>
            </a:r>
            <a:endParaRPr lang="en-US" sz="1100" dirty="0"/>
          </a:p>
        </p:txBody>
      </p:sp>
      <p:sp>
        <p:nvSpPr>
          <p:cNvPr id="109" name="TextBox 10"/>
          <p:cNvSpPr txBox="1"/>
          <p:nvPr/>
        </p:nvSpPr>
        <p:spPr>
          <a:xfrm>
            <a:off x="3543300" y="3263646"/>
            <a:ext cx="941515" cy="353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en-US" altLang="zh-CN" sz="2300" dirty="0">
                <a:solidFill>
                  <a:srgbClr val="000000"/>
                </a:solidFill>
                <a:latin typeface="Microsoft YaHei"/>
                <a:ea typeface="Microsoft YaHei"/>
              </a:rPr>
              <a:t>2</a:t>
            </a:r>
            <a:endParaRPr lang="en-US" sz="1100" dirty="0"/>
          </a:p>
        </p:txBody>
      </p:sp>
      <p:sp>
        <p:nvSpPr>
          <p:cNvPr id="111" name="TextBox 12"/>
          <p:cNvSpPr txBox="1"/>
          <p:nvPr/>
        </p:nvSpPr>
        <p:spPr>
          <a:xfrm>
            <a:off x="6388100" y="2933446"/>
            <a:ext cx="941515" cy="353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en-US" altLang="zh-CN" sz="2300" dirty="0">
                <a:solidFill>
                  <a:srgbClr val="000000"/>
                </a:solidFill>
                <a:latin typeface="Microsoft YaHei"/>
                <a:ea typeface="Microsoft YaHei"/>
              </a:rPr>
              <a:t>3</a:t>
            </a:r>
            <a:endParaRPr lang="en-US" sz="1100" dirty="0"/>
          </a:p>
        </p:txBody>
      </p:sp>
      <p:sp>
        <p:nvSpPr>
          <p:cNvPr id="113" name="TextBox 14"/>
          <p:cNvSpPr txBox="1"/>
          <p:nvPr/>
        </p:nvSpPr>
        <p:spPr>
          <a:xfrm>
            <a:off x="9347200" y="2463546"/>
            <a:ext cx="941515" cy="353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en-US" altLang="zh-CN" sz="2300" dirty="0">
                <a:solidFill>
                  <a:srgbClr val="000000"/>
                </a:solidFill>
                <a:latin typeface="Microsoft YaHei"/>
                <a:ea typeface="Microsoft YaHei"/>
              </a:rPr>
              <a:t>4</a:t>
            </a:r>
            <a:endParaRPr lang="en-US" sz="11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FCC19BC-AD64-4D98-89E2-136F409242FA}"/>
              </a:ext>
            </a:extLst>
          </p:cNvPr>
          <p:cNvSpPr txBox="1"/>
          <p:nvPr/>
        </p:nvSpPr>
        <p:spPr>
          <a:xfrm>
            <a:off x="1246032" y="376204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中</a:t>
            </a:r>
            <a:r>
              <a:rPr lang="zh-CN" altLang="en-US" dirty="0">
                <a:solidFill>
                  <a:srgbClr val="FF0000"/>
                </a:solidFill>
              </a:rPr>
              <a:t>英</a:t>
            </a:r>
            <a:r>
              <a:rPr lang="zh-CN" altLang="en-US" dirty="0"/>
              <a:t>文原题目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7EE62B4-BD88-4FC8-BFE1-5AEE44E41241}"/>
              </a:ext>
            </a:extLst>
          </p:cNvPr>
          <p:cNvSpPr txBox="1"/>
          <p:nvPr/>
        </p:nvSpPr>
        <p:spPr>
          <a:xfrm>
            <a:off x="3682137" y="427705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关键字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6F5B56D-0589-4498-9520-8A8B7F46FB53}"/>
              </a:ext>
            </a:extLst>
          </p:cNvPr>
          <p:cNvSpPr txBox="1"/>
          <p:nvPr/>
        </p:nvSpPr>
        <p:spPr>
          <a:xfrm>
            <a:off x="6656169" y="394670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目的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CAC429C-5FEA-406A-9E6D-96B5BDB50F59}"/>
              </a:ext>
            </a:extLst>
          </p:cNvPr>
          <p:cNvSpPr txBox="1"/>
          <p:nvPr/>
        </p:nvSpPr>
        <p:spPr>
          <a:xfrm>
            <a:off x="9363443" y="355052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提取参数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31CDEED-F92A-43C2-A04F-5D6805A4B987}"/>
              </a:ext>
            </a:extLst>
          </p:cNvPr>
          <p:cNvSpPr txBox="1"/>
          <p:nvPr/>
        </p:nvSpPr>
        <p:spPr>
          <a:xfrm>
            <a:off x="1246032" y="5213290"/>
            <a:ext cx="78790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rgbClr val="FF0000"/>
                </a:solidFill>
              </a:rPr>
              <a:t>紧密围绕目的和关键字</a:t>
            </a:r>
            <a:r>
              <a:rPr lang="zh-CN" altLang="en-US" sz="2000" dirty="0"/>
              <a:t>，提取参数，找出参数对目的及关键字的影响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 animBg="1"/>
      <p:bldP spid="101" grpId="0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9" grpId="0" animBg="1"/>
      <p:bldP spid="111" grpId="0" animBg="1"/>
      <p:bldP spid="1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">
            <a:extLst>
              <a:ext uri="{FF2B5EF4-FFF2-40B4-BE49-F238E27FC236}">
                <a16:creationId xmlns:a16="http://schemas.microsoft.com/office/drawing/2014/main" id="{2B3DD561-4684-449A-9D9D-1C24CB6F4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17" name="TextBox 2">
            <a:extLst>
              <a:ext uri="{FF2B5EF4-FFF2-40B4-BE49-F238E27FC236}">
                <a16:creationId xmlns:a16="http://schemas.microsoft.com/office/drawing/2014/main" id="{3952A3B5-B73A-4668-ACFA-93315E36DE0D}"/>
              </a:ext>
            </a:extLst>
          </p:cNvPr>
          <p:cNvSpPr txBox="1"/>
          <p:nvPr/>
        </p:nvSpPr>
        <p:spPr>
          <a:xfrm>
            <a:off x="4266438" y="776224"/>
            <a:ext cx="2899982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预实验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5F08574-2D73-45C1-9D9A-A2F6B44B1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" y="1879600"/>
            <a:ext cx="5238295" cy="3249937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21EEAFB5-51C9-48D9-BF07-23E61FDE6327}"/>
              </a:ext>
            </a:extLst>
          </p:cNvPr>
          <p:cNvSpPr txBox="1"/>
          <p:nvPr/>
        </p:nvSpPr>
        <p:spPr>
          <a:xfrm>
            <a:off x="2178036" y="5333235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示意图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C687CBA-B170-432D-989E-F07DD83D3A95}"/>
              </a:ext>
            </a:extLst>
          </p:cNvPr>
          <p:cNvSpPr txBox="1"/>
          <p:nvPr/>
        </p:nvSpPr>
        <p:spPr>
          <a:xfrm>
            <a:off x="7128029" y="2032000"/>
            <a:ext cx="30700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目的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寻找和设置初值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观察现象，确定相关理论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相关软件使用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寻找特殊现象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查找和补漏参数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… …</a:t>
            </a:r>
            <a:endParaRPr lang="zh-CN" altLang="en-US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">
            <a:extLst>
              <a:ext uri="{FF2B5EF4-FFF2-40B4-BE49-F238E27FC236}">
                <a16:creationId xmlns:a16="http://schemas.microsoft.com/office/drawing/2014/main" id="{2B3DD561-4684-449A-9D9D-1C24CB6F4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17" name="TextBox 2">
            <a:extLst>
              <a:ext uri="{FF2B5EF4-FFF2-40B4-BE49-F238E27FC236}">
                <a16:creationId xmlns:a16="http://schemas.microsoft.com/office/drawing/2014/main" id="{3952A3B5-B73A-4668-ACFA-93315E36DE0D}"/>
              </a:ext>
            </a:extLst>
          </p:cNvPr>
          <p:cNvSpPr txBox="1"/>
          <p:nvPr/>
        </p:nvSpPr>
        <p:spPr>
          <a:xfrm>
            <a:off x="4266438" y="776224"/>
            <a:ext cx="2899982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预实验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22D03E7-AA54-4F76-BB5E-E249669D0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00" y="2032000"/>
            <a:ext cx="6411978" cy="355956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E8734F49-8EE2-4439-9E96-95FE3C2EA23C}"/>
              </a:ext>
            </a:extLst>
          </p:cNvPr>
          <p:cNvSpPr txBox="1"/>
          <p:nvPr/>
        </p:nvSpPr>
        <p:spPr>
          <a:xfrm>
            <a:off x="7128029" y="2032000"/>
            <a:ext cx="30700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目的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>
                <a:solidFill>
                  <a:srgbClr val="FF0000"/>
                </a:solidFill>
              </a:rPr>
              <a:t>寻找和设置初值</a:t>
            </a:r>
            <a:endParaRPr lang="en-US" altLang="zh-CN" dirty="0">
              <a:solidFill>
                <a:srgbClr val="FF0000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>
                <a:solidFill>
                  <a:srgbClr val="FF0000"/>
                </a:solidFill>
              </a:rPr>
              <a:t>观察现象，确定相关理论</a:t>
            </a:r>
            <a:endParaRPr lang="en-US" altLang="zh-CN" dirty="0">
              <a:solidFill>
                <a:srgbClr val="FF0000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/>
              <a:t>相关软件使用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寻找特殊现象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查找和补漏参数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… …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7752865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">
            <a:extLst>
              <a:ext uri="{FF2B5EF4-FFF2-40B4-BE49-F238E27FC236}">
                <a16:creationId xmlns:a16="http://schemas.microsoft.com/office/drawing/2014/main" id="{2B3DD561-4684-449A-9D9D-1C24CB6F4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17" name="TextBox 2">
            <a:extLst>
              <a:ext uri="{FF2B5EF4-FFF2-40B4-BE49-F238E27FC236}">
                <a16:creationId xmlns:a16="http://schemas.microsoft.com/office/drawing/2014/main" id="{3952A3B5-B73A-4668-ACFA-93315E36DE0D}"/>
              </a:ext>
            </a:extLst>
          </p:cNvPr>
          <p:cNvSpPr txBox="1"/>
          <p:nvPr/>
        </p:nvSpPr>
        <p:spPr>
          <a:xfrm>
            <a:off x="4266438" y="776224"/>
            <a:ext cx="2899982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预实验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734F49-8EE2-4439-9E96-95FE3C2EA23C}"/>
              </a:ext>
            </a:extLst>
          </p:cNvPr>
          <p:cNvSpPr txBox="1"/>
          <p:nvPr/>
        </p:nvSpPr>
        <p:spPr>
          <a:xfrm>
            <a:off x="7128029" y="2032000"/>
            <a:ext cx="30700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目的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寻找和设置初值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观察现象，确定相关理论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>
                <a:solidFill>
                  <a:srgbClr val="FF0000"/>
                </a:solidFill>
              </a:rPr>
              <a:t>相关软件使用</a:t>
            </a:r>
            <a:endParaRPr lang="en-US" altLang="zh-CN" dirty="0">
              <a:solidFill>
                <a:srgbClr val="FF0000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/>
              <a:t>寻找特殊现象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查找和补漏参数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… …</a:t>
            </a:r>
            <a:endParaRPr lang="zh-CN" altLang="en-US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FFC433E-5A0F-4765-97FE-9823257B7E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32000"/>
            <a:ext cx="6143726" cy="35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63727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">
            <a:extLst>
              <a:ext uri="{FF2B5EF4-FFF2-40B4-BE49-F238E27FC236}">
                <a16:creationId xmlns:a16="http://schemas.microsoft.com/office/drawing/2014/main" id="{2B3DD561-4684-449A-9D9D-1C24CB6F4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17" name="TextBox 2">
            <a:extLst>
              <a:ext uri="{FF2B5EF4-FFF2-40B4-BE49-F238E27FC236}">
                <a16:creationId xmlns:a16="http://schemas.microsoft.com/office/drawing/2014/main" id="{3952A3B5-B73A-4668-ACFA-93315E36DE0D}"/>
              </a:ext>
            </a:extLst>
          </p:cNvPr>
          <p:cNvSpPr txBox="1"/>
          <p:nvPr/>
        </p:nvSpPr>
        <p:spPr>
          <a:xfrm>
            <a:off x="4266438" y="776224"/>
            <a:ext cx="2899982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预实验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734F49-8EE2-4439-9E96-95FE3C2EA23C}"/>
              </a:ext>
            </a:extLst>
          </p:cNvPr>
          <p:cNvSpPr txBox="1"/>
          <p:nvPr/>
        </p:nvSpPr>
        <p:spPr>
          <a:xfrm>
            <a:off x="7128029" y="2032000"/>
            <a:ext cx="30700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目的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寻找和设置初值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观察现象，确定相关理论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相关软件使用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>
                <a:solidFill>
                  <a:srgbClr val="FF0000"/>
                </a:solidFill>
              </a:rPr>
              <a:t>寻找特殊现象</a:t>
            </a:r>
            <a:endParaRPr lang="en-US" altLang="zh-CN" dirty="0">
              <a:solidFill>
                <a:srgbClr val="FF0000"/>
              </a:solidFill>
            </a:endParaRPr>
          </a:p>
          <a:p>
            <a:pPr marL="342900" indent="-342900">
              <a:buAutoNum type="arabicPeriod"/>
            </a:pPr>
            <a:r>
              <a:rPr lang="zh-CN" altLang="en-US" dirty="0">
                <a:solidFill>
                  <a:srgbClr val="FF0000"/>
                </a:solidFill>
              </a:rPr>
              <a:t>查找和补漏参数</a:t>
            </a:r>
            <a:endParaRPr lang="en-US" altLang="zh-CN" dirty="0">
              <a:solidFill>
                <a:srgbClr val="FF0000"/>
              </a:solidFill>
            </a:endParaRPr>
          </a:p>
          <a:p>
            <a:pPr marL="342900" indent="-342900">
              <a:buAutoNum type="arabicPeriod"/>
            </a:pPr>
            <a:r>
              <a:rPr lang="en-US" altLang="zh-CN" dirty="0"/>
              <a:t>… …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482F074-BCA3-4891-B543-A65DB80D9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00" y="2032000"/>
            <a:ext cx="6006714" cy="35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432012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6C8BCBD-6D48-4B0E-A7B0-7A2359B48C4A}"/>
              </a:ext>
            </a:extLst>
          </p:cNvPr>
          <p:cNvSpPr/>
          <p:nvPr/>
        </p:nvSpPr>
        <p:spPr>
          <a:xfrm>
            <a:off x="0" y="1422400"/>
            <a:ext cx="11557000" cy="2819400"/>
          </a:xfrm>
          <a:prstGeom prst="rect">
            <a:avLst/>
          </a:prstGeom>
          <a:solidFill>
            <a:srgbClr val="E5E3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29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6102" y="486156"/>
            <a:ext cx="4479798" cy="820414"/>
          </a:xfrm>
          <a:prstGeom prst="rect">
            <a:avLst/>
          </a:prstGeom>
        </p:spPr>
      </p:pic>
      <p:sp>
        <p:nvSpPr>
          <p:cNvPr id="130" name="TextBox 2"/>
          <p:cNvSpPr txBox="1"/>
          <p:nvPr/>
        </p:nvSpPr>
        <p:spPr>
          <a:xfrm>
            <a:off x="4266438" y="776224"/>
            <a:ext cx="2823528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初步判断理论模型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pic>
        <p:nvPicPr>
          <p:cNvPr id="131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485" y="1596638"/>
            <a:ext cx="1674708" cy="1912621"/>
          </a:xfrm>
          <a:prstGeom prst="rect">
            <a:avLst/>
          </a:prstGeom>
        </p:spPr>
      </p:pic>
      <p:pic>
        <p:nvPicPr>
          <p:cNvPr id="132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5100" y="1596638"/>
            <a:ext cx="1674708" cy="191086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1285748" y="3722110"/>
            <a:ext cx="1916240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主要理论</a:t>
            </a:r>
            <a:endParaRPr lang="en-US" sz="1100" dirty="0"/>
          </a:p>
        </p:txBody>
      </p:sp>
      <p:sp>
        <p:nvSpPr>
          <p:cNvPr id="138" name="TextBox 137"/>
          <p:cNvSpPr txBox="1"/>
          <p:nvPr/>
        </p:nvSpPr>
        <p:spPr>
          <a:xfrm>
            <a:off x="4744905" y="3722110"/>
            <a:ext cx="1916240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主要模型</a:t>
            </a:r>
            <a:endParaRPr lang="en-US" sz="1100" dirty="0"/>
          </a:p>
        </p:txBody>
      </p:sp>
      <p:sp>
        <p:nvSpPr>
          <p:cNvPr id="141" name="TextBox 140"/>
          <p:cNvSpPr txBox="1"/>
          <p:nvPr/>
        </p:nvSpPr>
        <p:spPr>
          <a:xfrm>
            <a:off x="8272985" y="3722110"/>
            <a:ext cx="1916240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限制条件</a:t>
            </a:r>
            <a:endParaRPr lang="en-US" sz="11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405D317C-D2A2-43E5-933E-3F73CDC32E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2985" y="1993568"/>
            <a:ext cx="1883192" cy="151393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36682AEA-95DC-43E5-9D1C-8FD2B9A84D7B}"/>
              </a:ext>
            </a:extLst>
          </p:cNvPr>
          <p:cNvSpPr txBox="1"/>
          <p:nvPr/>
        </p:nvSpPr>
        <p:spPr>
          <a:xfrm>
            <a:off x="182721" y="4582596"/>
            <a:ext cx="468589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dirty="0"/>
              <a:t>忽略“次要条件”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落入“参数研究，不可自拔”，忽略目的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背景研究不充分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…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2F56AFD-AB79-4F6C-A971-504A5F0F6951}"/>
              </a:ext>
            </a:extLst>
          </p:cNvPr>
          <p:cNvSpPr txBox="1"/>
          <p:nvPr/>
        </p:nvSpPr>
        <p:spPr>
          <a:xfrm>
            <a:off x="6591367" y="4582596"/>
            <a:ext cx="40639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dirty="0"/>
              <a:t>准确判断“条件”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围绕目的，参数研究服务实验目的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充分调研研究背景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…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  <a:endParaRPr lang="zh-CN" altLang="en-US" dirty="0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C54F1FE9-E55F-4E6A-91CB-D41B4F04261D}"/>
              </a:ext>
            </a:extLst>
          </p:cNvPr>
          <p:cNvSpPr/>
          <p:nvPr/>
        </p:nvSpPr>
        <p:spPr>
          <a:xfrm>
            <a:off x="5253688" y="4916060"/>
            <a:ext cx="890302" cy="533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 animBg="1"/>
      <p:bldP spid="130" grpId="0"/>
      <p:bldP spid="131" grpId="0" animBg="1"/>
      <p:bldP spid="1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6C8BCBD-6D48-4B0E-A7B0-7A2359B48C4A}"/>
              </a:ext>
            </a:extLst>
          </p:cNvPr>
          <p:cNvSpPr/>
          <p:nvPr/>
        </p:nvSpPr>
        <p:spPr>
          <a:xfrm>
            <a:off x="0" y="1422400"/>
            <a:ext cx="11557000" cy="2819400"/>
          </a:xfrm>
          <a:prstGeom prst="rect">
            <a:avLst/>
          </a:prstGeom>
          <a:solidFill>
            <a:srgbClr val="E5E3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29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6102" y="486156"/>
            <a:ext cx="4479798" cy="820414"/>
          </a:xfrm>
          <a:prstGeom prst="rect">
            <a:avLst/>
          </a:prstGeom>
        </p:spPr>
      </p:pic>
      <p:sp>
        <p:nvSpPr>
          <p:cNvPr id="130" name="TextBox 2"/>
          <p:cNvSpPr txBox="1"/>
          <p:nvPr/>
        </p:nvSpPr>
        <p:spPr>
          <a:xfrm>
            <a:off x="4266438" y="776224"/>
            <a:ext cx="2823528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初步判断理论模型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pic>
        <p:nvPicPr>
          <p:cNvPr id="132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100" y="1596638"/>
            <a:ext cx="1674708" cy="191086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1285748" y="3722110"/>
            <a:ext cx="1916240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主要理论</a:t>
            </a:r>
            <a:endParaRPr lang="en-US" sz="11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2E5C31C-67E5-41F8-AB74-2DBDFFA1D364}"/>
              </a:ext>
            </a:extLst>
          </p:cNvPr>
          <p:cNvSpPr txBox="1"/>
          <p:nvPr/>
        </p:nvSpPr>
        <p:spPr>
          <a:xfrm>
            <a:off x="4532764" y="1706261"/>
            <a:ext cx="3531736" cy="22262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必要的方程及涉及参数的意义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初始条件的合理性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方程的解及物理意义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参数的理论影响规律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7B169A-647D-44DB-87A9-6F77CF485B28}"/>
              </a:ext>
            </a:extLst>
          </p:cNvPr>
          <p:cNvSpPr txBox="1"/>
          <p:nvPr/>
        </p:nvSpPr>
        <p:spPr>
          <a:xfrm>
            <a:off x="4742240" y="4258733"/>
            <a:ext cx="1569660" cy="2126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牛顿第二定律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动力学方程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麦克斯韦方程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流体力学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…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096760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 animBg="1"/>
      <p:bldP spid="130" grpId="0"/>
      <p:bldP spid="1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6C8BCBD-6D48-4B0E-A7B0-7A2359B48C4A}"/>
              </a:ext>
            </a:extLst>
          </p:cNvPr>
          <p:cNvSpPr/>
          <p:nvPr/>
        </p:nvSpPr>
        <p:spPr>
          <a:xfrm>
            <a:off x="0" y="1422400"/>
            <a:ext cx="11557000" cy="2819400"/>
          </a:xfrm>
          <a:prstGeom prst="rect">
            <a:avLst/>
          </a:prstGeom>
          <a:solidFill>
            <a:srgbClr val="E5E3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29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6102" y="486156"/>
            <a:ext cx="4479798" cy="820414"/>
          </a:xfrm>
          <a:prstGeom prst="rect">
            <a:avLst/>
          </a:prstGeom>
        </p:spPr>
      </p:pic>
      <p:sp>
        <p:nvSpPr>
          <p:cNvPr id="130" name="TextBox 2"/>
          <p:cNvSpPr txBox="1"/>
          <p:nvPr/>
        </p:nvSpPr>
        <p:spPr>
          <a:xfrm>
            <a:off x="4266438" y="776224"/>
            <a:ext cx="2823528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初步判断理论模型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pic>
        <p:nvPicPr>
          <p:cNvPr id="132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100" y="1596638"/>
            <a:ext cx="1674708" cy="191086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1285748" y="3722110"/>
            <a:ext cx="1916240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主要模型</a:t>
            </a:r>
            <a:endParaRPr lang="en-US" sz="11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2E5C31C-67E5-41F8-AB74-2DBDFFA1D364}"/>
              </a:ext>
            </a:extLst>
          </p:cNvPr>
          <p:cNvSpPr txBox="1"/>
          <p:nvPr/>
        </p:nvSpPr>
        <p:spPr>
          <a:xfrm>
            <a:off x="4532764" y="1706261"/>
            <a:ext cx="2377574" cy="22307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数值模型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软件建模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理论计算结果分析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修正及改进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7B169A-647D-44DB-87A9-6F77CF485B28}"/>
              </a:ext>
            </a:extLst>
          </p:cNvPr>
          <p:cNvSpPr txBox="1"/>
          <p:nvPr/>
        </p:nvSpPr>
        <p:spPr>
          <a:xfrm>
            <a:off x="2844139" y="4258733"/>
            <a:ext cx="1486561" cy="17113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/>
              <a:t>Mathematical</a:t>
            </a:r>
          </a:p>
          <a:p>
            <a:pPr>
              <a:lnSpc>
                <a:spcPct val="150000"/>
              </a:lnSpc>
            </a:pPr>
            <a:r>
              <a:rPr lang="en-US" altLang="zh-CN" dirty="0" err="1"/>
              <a:t>Matlab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Python</a:t>
            </a:r>
          </a:p>
          <a:p>
            <a:pPr>
              <a:lnSpc>
                <a:spcPct val="150000"/>
              </a:lnSpc>
            </a:pPr>
            <a:r>
              <a:rPr lang="en-US" altLang="zh-CN" dirty="0"/>
              <a:t>…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B110BFA-A779-4C6F-BDE9-48845F545A6F}"/>
              </a:ext>
            </a:extLst>
          </p:cNvPr>
          <p:cNvSpPr txBox="1"/>
          <p:nvPr/>
        </p:nvSpPr>
        <p:spPr>
          <a:xfrm>
            <a:off x="6804733" y="4258733"/>
            <a:ext cx="878767" cy="17113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/>
              <a:t>Tracker</a:t>
            </a:r>
          </a:p>
          <a:p>
            <a:pPr>
              <a:lnSpc>
                <a:spcPct val="150000"/>
              </a:lnSpc>
            </a:pPr>
            <a:r>
              <a:rPr lang="en-US" altLang="zh-CN" dirty="0" err="1"/>
              <a:t>Comsol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CST</a:t>
            </a:r>
          </a:p>
          <a:p>
            <a:pPr>
              <a:lnSpc>
                <a:spcPct val="150000"/>
              </a:lnSpc>
            </a:pPr>
            <a:r>
              <a:rPr lang="en-US" altLang="zh-CN" dirty="0"/>
              <a:t>…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31967467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 animBg="1"/>
      <p:bldP spid="130" grpId="0"/>
      <p:bldP spid="1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6C8BCBD-6D48-4B0E-A7B0-7A2359B48C4A}"/>
              </a:ext>
            </a:extLst>
          </p:cNvPr>
          <p:cNvSpPr/>
          <p:nvPr/>
        </p:nvSpPr>
        <p:spPr>
          <a:xfrm>
            <a:off x="0" y="1422400"/>
            <a:ext cx="11557000" cy="2819400"/>
          </a:xfrm>
          <a:prstGeom prst="rect">
            <a:avLst/>
          </a:prstGeom>
          <a:solidFill>
            <a:srgbClr val="E5E3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29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6102" y="486156"/>
            <a:ext cx="4479798" cy="820414"/>
          </a:xfrm>
          <a:prstGeom prst="rect">
            <a:avLst/>
          </a:prstGeom>
        </p:spPr>
      </p:pic>
      <p:sp>
        <p:nvSpPr>
          <p:cNvPr id="130" name="TextBox 2"/>
          <p:cNvSpPr txBox="1"/>
          <p:nvPr/>
        </p:nvSpPr>
        <p:spPr>
          <a:xfrm>
            <a:off x="4266438" y="776224"/>
            <a:ext cx="2823528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初步判断理论模型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2E5C31C-67E5-41F8-AB74-2DBDFFA1D364}"/>
              </a:ext>
            </a:extLst>
          </p:cNvPr>
          <p:cNvSpPr txBox="1"/>
          <p:nvPr/>
        </p:nvSpPr>
        <p:spPr>
          <a:xfrm>
            <a:off x="4532764" y="1706261"/>
            <a:ext cx="3070071" cy="22307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初始值是否符合物理条件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理论公式的使用范围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修正及改进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… …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7B169A-647D-44DB-87A9-6F77CF485B28}"/>
              </a:ext>
            </a:extLst>
          </p:cNvPr>
          <p:cNvSpPr txBox="1"/>
          <p:nvPr/>
        </p:nvSpPr>
        <p:spPr>
          <a:xfrm>
            <a:off x="4559300" y="4258733"/>
            <a:ext cx="1569660" cy="1295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坐标系选取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过渡过程状态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…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  <a:endParaRPr lang="zh-CN" altLang="en-US" dirty="0"/>
          </a:p>
        </p:txBody>
      </p:sp>
      <p:sp>
        <p:nvSpPr>
          <p:cNvPr id="10" name="TextBox 140">
            <a:extLst>
              <a:ext uri="{FF2B5EF4-FFF2-40B4-BE49-F238E27FC236}">
                <a16:creationId xmlns:a16="http://schemas.microsoft.com/office/drawing/2014/main" id="{B4F96733-9AAF-4CCA-9432-55308B91B6EF}"/>
              </a:ext>
            </a:extLst>
          </p:cNvPr>
          <p:cNvSpPr txBox="1"/>
          <p:nvPr/>
        </p:nvSpPr>
        <p:spPr>
          <a:xfrm>
            <a:off x="1358900" y="3722110"/>
            <a:ext cx="1916240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限制条件</a:t>
            </a:r>
            <a:endParaRPr lang="en-US" sz="1100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1D7E21B-5E6D-4914-996F-4E1C21E43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900" y="1993568"/>
            <a:ext cx="1883192" cy="151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157174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 animBg="1"/>
      <p:bldP spid="13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144" name="TextBox 2"/>
          <p:cNvSpPr txBox="1"/>
          <p:nvPr/>
        </p:nvSpPr>
        <p:spPr>
          <a:xfrm>
            <a:off x="4266438" y="776224"/>
            <a:ext cx="2854008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实验和理论验证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791171A-4D75-4043-A00A-B0351FF94B6B}"/>
              </a:ext>
            </a:extLst>
          </p:cNvPr>
          <p:cNvSpPr txBox="1"/>
          <p:nvPr/>
        </p:nvSpPr>
        <p:spPr>
          <a:xfrm>
            <a:off x="825500" y="1955800"/>
            <a:ext cx="41713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rgbClr val="FF0000"/>
                </a:solidFill>
              </a:rPr>
              <a:t>方法： 控制变量法 （理论和实验）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75A66F7-13D0-4CAA-BA85-6858430B4FEF}"/>
              </a:ext>
            </a:extLst>
          </p:cNvPr>
          <p:cNvSpPr txBox="1"/>
          <p:nvPr/>
        </p:nvSpPr>
        <p:spPr>
          <a:xfrm>
            <a:off x="821267" y="2635808"/>
            <a:ext cx="822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70C0"/>
                </a:solidFill>
              </a:rPr>
              <a:t>理论推导</a:t>
            </a:r>
            <a:r>
              <a:rPr lang="zh-CN" altLang="en-US" dirty="0"/>
              <a:t>可以将多个因素赋予一个变量，方便计算；但是必须要对应实验结果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DF5CDDB-037A-4FC2-A1BF-2FC0747F0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07" y="3285038"/>
            <a:ext cx="4354919" cy="2626082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56E26B37-D0C4-43D1-B594-0E8A66B30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499" y="3251200"/>
            <a:ext cx="4354919" cy="2645845"/>
          </a:xfrm>
          <a:prstGeom prst="rect">
            <a:avLst/>
          </a:prstGeom>
        </p:spPr>
      </p:pic>
    </p:spTree>
  </p:cSld>
  <p:clrMapOvr>
    <a:masterClrMapping/>
  </p:clrMapOvr>
  <p:transition spd="slow">
    <p14:prism xmlns:p14="http://schemas.microsoft.com/office/powerpoint/2010/main" dir="u" isInverted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 animBg="1"/>
      <p:bldP spid="14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144" name="TextBox 2"/>
          <p:cNvSpPr txBox="1"/>
          <p:nvPr/>
        </p:nvSpPr>
        <p:spPr>
          <a:xfrm>
            <a:off x="4266438" y="776224"/>
            <a:ext cx="2854008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实验和理论验证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791171A-4D75-4043-A00A-B0351FF94B6B}"/>
              </a:ext>
            </a:extLst>
          </p:cNvPr>
          <p:cNvSpPr txBox="1"/>
          <p:nvPr/>
        </p:nvSpPr>
        <p:spPr>
          <a:xfrm>
            <a:off x="825500" y="1955800"/>
            <a:ext cx="41713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solidFill>
                  <a:srgbClr val="FF0000"/>
                </a:solidFill>
              </a:rPr>
              <a:t>方法： 控制变量法 （理论和实验）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75A66F7-13D0-4CAA-BA85-6858430B4FEF}"/>
              </a:ext>
            </a:extLst>
          </p:cNvPr>
          <p:cNvSpPr txBox="1"/>
          <p:nvPr/>
        </p:nvSpPr>
        <p:spPr>
          <a:xfrm>
            <a:off x="821267" y="2635808"/>
            <a:ext cx="7563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70C0"/>
                </a:solidFill>
              </a:rPr>
              <a:t>实验验证</a:t>
            </a:r>
            <a:r>
              <a:rPr lang="zh-CN" altLang="en-US" dirty="0"/>
              <a:t>验证尽可能多的影响参数对目标的影响规律，补充以及验证理论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2D6939C-550F-40B5-ADBC-9956B0A24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549" y="3428740"/>
            <a:ext cx="3050552" cy="206547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4E06018-164A-4F12-82BA-BF71481B0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38" y="3428740"/>
            <a:ext cx="4963223" cy="206547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0BC3CCD-27B4-4CDF-B869-35EDD1579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3897" y="3428740"/>
            <a:ext cx="2743110" cy="206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737889"/>
      </p:ext>
    </p:extLst>
  </p:cSld>
  <p:clrMapOvr>
    <a:masterClrMapping/>
  </p:clrMapOvr>
  <p:transition spd="slow">
    <p14:prism xmlns:p14="http://schemas.microsoft.com/office/powerpoint/2010/main" dir="u" isInverted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 animBg="1"/>
      <p:bldP spid="14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5900" y="482600"/>
            <a:ext cx="3472786" cy="820414"/>
          </a:xfrm>
          <a:prstGeom prst="rect">
            <a:avLst/>
          </a:prstGeom>
        </p:spPr>
      </p:pic>
      <p:sp>
        <p:nvSpPr>
          <p:cNvPr id="198" name="TextBox 2"/>
          <p:cNvSpPr txBox="1"/>
          <p:nvPr/>
        </p:nvSpPr>
        <p:spPr>
          <a:xfrm>
            <a:off x="4627033" y="775589"/>
            <a:ext cx="2833751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atinLnBrk="1"/>
            <a:r>
              <a:rPr lang="zh-CN" altLang="en-US" sz="2400" dirty="0">
                <a:solidFill>
                  <a:srgbClr val="FF0000"/>
                </a:solidFill>
                <a:latin typeface="Microsoft YaHei"/>
                <a:ea typeface="Microsoft YaHei"/>
              </a:rPr>
              <a:t>误差分析及结论</a:t>
            </a:r>
            <a:endParaRPr lang="en-US" altLang="zh-CN" sz="1200" dirty="0">
              <a:solidFill>
                <a:srgbClr val="FF0000"/>
              </a:solidFill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668B8FA-507E-458A-8FB2-7ADE8F85E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626" y="1508686"/>
            <a:ext cx="7533333" cy="44857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225" name="TextBox 2"/>
          <p:cNvSpPr txBox="1"/>
          <p:nvPr/>
        </p:nvSpPr>
        <p:spPr>
          <a:xfrm>
            <a:off x="4266438" y="776224"/>
            <a:ext cx="2822575" cy="353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300" dirty="0">
                <a:solidFill>
                  <a:srgbClr val="000000"/>
                </a:solidFill>
                <a:latin typeface="Microsoft YaHei"/>
                <a:ea typeface="Microsoft YaHei"/>
              </a:rPr>
              <a:t>总结</a:t>
            </a:r>
            <a:endParaRPr lang="en-US" sz="1100" dirty="0"/>
          </a:p>
        </p:txBody>
      </p:sp>
      <p:pic>
        <p:nvPicPr>
          <p:cNvPr id="226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0619" y="4677410"/>
            <a:ext cx="1342758" cy="882382"/>
          </a:xfrm>
          <a:prstGeom prst="rect">
            <a:avLst/>
          </a:prstGeom>
        </p:spPr>
      </p:pic>
      <p:pic>
        <p:nvPicPr>
          <p:cNvPr id="227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677" y="3406775"/>
            <a:ext cx="2092590" cy="1375119"/>
          </a:xfrm>
          <a:prstGeom prst="rect">
            <a:avLst/>
          </a:prstGeom>
        </p:spPr>
      </p:pic>
      <p:pic>
        <p:nvPicPr>
          <p:cNvPr id="228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3194" y="3128899"/>
            <a:ext cx="868456" cy="5706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pic>
      <p:pic>
        <p:nvPicPr>
          <p:cNvPr id="229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1433" y="2084324"/>
            <a:ext cx="1671210" cy="1096883"/>
          </a:xfrm>
          <a:prstGeom prst="rect">
            <a:avLst/>
          </a:prstGeom>
        </p:spPr>
      </p:pic>
      <p:sp>
        <p:nvSpPr>
          <p:cNvPr id="230" name="TextBox 7"/>
          <p:cNvSpPr txBox="1"/>
          <p:nvPr/>
        </p:nvSpPr>
        <p:spPr>
          <a:xfrm>
            <a:off x="2970911" y="4930013"/>
            <a:ext cx="744347" cy="355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en-US" sz="2000" b="1">
                <a:solidFill>
                  <a:srgbClr val="000000"/>
                </a:solidFill>
                <a:latin typeface="Microsoft YaHei"/>
                <a:ea typeface="Microsoft YaHei"/>
              </a:rPr>
              <a:t>38</a:t>
            </a:r>
            <a:endParaRPr lang="en-US" sz="1100"/>
          </a:p>
        </p:txBody>
      </p:sp>
      <p:sp>
        <p:nvSpPr>
          <p:cNvPr id="231" name="TextBox 8"/>
          <p:cNvSpPr txBox="1"/>
          <p:nvPr/>
        </p:nvSpPr>
        <p:spPr>
          <a:xfrm>
            <a:off x="4634484" y="3719322"/>
            <a:ext cx="966660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en-US" sz="4000" b="1">
                <a:solidFill>
                  <a:srgbClr val="000000"/>
                </a:solidFill>
                <a:latin typeface="Microsoft YaHei"/>
                <a:ea typeface="Microsoft YaHei"/>
              </a:rPr>
              <a:t>46</a:t>
            </a:r>
            <a:endParaRPr lang="en-US" sz="1100"/>
          </a:p>
        </p:txBody>
      </p:sp>
      <p:sp>
        <p:nvSpPr>
          <p:cNvPr id="232" name="TextBox 9"/>
          <p:cNvSpPr txBox="1"/>
          <p:nvPr/>
        </p:nvSpPr>
        <p:spPr>
          <a:xfrm>
            <a:off x="3061589" y="3259582"/>
            <a:ext cx="845629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en-US" sz="1600" b="1">
                <a:solidFill>
                  <a:srgbClr val="000000"/>
                </a:solidFill>
                <a:latin typeface="Microsoft YaHei"/>
                <a:ea typeface="Microsoft YaHei"/>
              </a:rPr>
              <a:t>17</a:t>
            </a:r>
            <a:endParaRPr lang="en-US" sz="1100"/>
          </a:p>
        </p:txBody>
      </p:sp>
      <p:sp>
        <p:nvSpPr>
          <p:cNvPr id="233" name="TextBox 10"/>
          <p:cNvSpPr txBox="1"/>
          <p:nvPr/>
        </p:nvSpPr>
        <p:spPr>
          <a:xfrm>
            <a:off x="4851400" y="2273300"/>
            <a:ext cx="1024446" cy="622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en-US" sz="3500" b="1">
                <a:solidFill>
                  <a:srgbClr val="000000"/>
                </a:solidFill>
                <a:latin typeface="Microsoft YaHei"/>
                <a:ea typeface="Microsoft YaHei"/>
              </a:rPr>
              <a:t>22</a:t>
            </a:r>
            <a:endParaRPr lang="en-US" sz="1100"/>
          </a:p>
        </p:txBody>
      </p:sp>
      <p:sp>
        <p:nvSpPr>
          <p:cNvPr id="235" name="TextBox 234"/>
          <p:cNvSpPr txBox="1"/>
          <p:nvPr/>
        </p:nvSpPr>
        <p:spPr>
          <a:xfrm>
            <a:off x="6921500" y="2324988"/>
            <a:ext cx="1968881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审题</a:t>
            </a:r>
            <a:endParaRPr lang="en-US" sz="1100" dirty="0"/>
          </a:p>
        </p:txBody>
      </p:sp>
      <p:sp>
        <p:nvSpPr>
          <p:cNvPr id="238" name="TextBox 237"/>
          <p:cNvSpPr txBox="1"/>
          <p:nvPr/>
        </p:nvSpPr>
        <p:spPr>
          <a:xfrm>
            <a:off x="4542663" y="4995799"/>
            <a:ext cx="2003108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结论及分析</a:t>
            </a:r>
            <a:endParaRPr lang="en-US" sz="1100" dirty="0"/>
          </a:p>
        </p:txBody>
      </p:sp>
      <p:sp>
        <p:nvSpPr>
          <p:cNvPr id="241" name="TextBox 240"/>
          <p:cNvSpPr txBox="1"/>
          <p:nvPr/>
        </p:nvSpPr>
        <p:spPr>
          <a:xfrm>
            <a:off x="6758432" y="3718941"/>
            <a:ext cx="1813687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理论实验验证</a:t>
            </a:r>
            <a:endParaRPr lang="en-US" sz="1100" dirty="0"/>
          </a:p>
        </p:txBody>
      </p:sp>
      <p:sp>
        <p:nvSpPr>
          <p:cNvPr id="244" name="TextBox 243"/>
          <p:cNvSpPr txBox="1"/>
          <p:nvPr/>
        </p:nvSpPr>
        <p:spPr>
          <a:xfrm>
            <a:off x="905891" y="3260357"/>
            <a:ext cx="2035746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latinLnBrk="1"/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预实验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" grpId="0" animBg="1"/>
      <p:bldP spid="225" grpId="0" animBg="1"/>
      <p:bldP spid="226" grpId="0" animBg="1"/>
      <p:bldP spid="227" grpId="0" animBg="1"/>
      <p:bldP spid="228" grpId="0" animBg="1"/>
      <p:bldP spid="229" grpId="0" animBg="1"/>
      <p:bldP spid="230" grpId="0" animBg="1"/>
      <p:bldP spid="231" grpId="0" animBg="1"/>
      <p:bldP spid="232" grpId="0" animBg="1"/>
      <p:bldP spid="23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02" y="486156"/>
            <a:ext cx="3472786" cy="820414"/>
          </a:xfrm>
          <a:prstGeom prst="rect">
            <a:avLst/>
          </a:prstGeom>
        </p:spPr>
      </p:pic>
      <p:sp>
        <p:nvSpPr>
          <p:cNvPr id="337" name="TextBox 2"/>
          <p:cNvSpPr txBox="1"/>
          <p:nvPr/>
        </p:nvSpPr>
        <p:spPr>
          <a:xfrm>
            <a:off x="4266438" y="776224"/>
            <a:ext cx="2785046" cy="353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zh-CN" altLang="en-US" sz="2300" dirty="0">
                <a:solidFill>
                  <a:srgbClr val="000000"/>
                </a:solidFill>
                <a:latin typeface="Microsoft YaHei"/>
                <a:ea typeface="Microsoft YaHei"/>
              </a:rPr>
              <a:t>技巧</a:t>
            </a:r>
            <a:endParaRPr lang="en-US" sz="1100" dirty="0"/>
          </a:p>
        </p:txBody>
      </p:sp>
      <p:pic>
        <p:nvPicPr>
          <p:cNvPr id="338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210" y="3017647"/>
            <a:ext cx="810769" cy="1159456"/>
          </a:xfrm>
          <a:prstGeom prst="rect">
            <a:avLst/>
          </a:prstGeom>
        </p:spPr>
      </p:pic>
      <p:pic>
        <p:nvPicPr>
          <p:cNvPr id="339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7637" y="3515741"/>
            <a:ext cx="326048" cy="311716"/>
          </a:xfrm>
          <a:prstGeom prst="rect">
            <a:avLst/>
          </a:prstGeom>
        </p:spPr>
      </p:pic>
      <p:pic>
        <p:nvPicPr>
          <p:cNvPr id="340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1046" y="1794510"/>
            <a:ext cx="1073633" cy="2466934"/>
          </a:xfrm>
          <a:prstGeom prst="rect">
            <a:avLst/>
          </a:prstGeom>
        </p:spPr>
      </p:pic>
      <p:pic>
        <p:nvPicPr>
          <p:cNvPr id="341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9711" y="3030855"/>
            <a:ext cx="810769" cy="1159456"/>
          </a:xfrm>
          <a:prstGeom prst="rect">
            <a:avLst/>
          </a:prstGeom>
        </p:spPr>
      </p:pic>
      <p:pic>
        <p:nvPicPr>
          <p:cNvPr id="342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3138" y="3528949"/>
            <a:ext cx="326048" cy="311716"/>
          </a:xfrm>
          <a:prstGeom prst="rect">
            <a:avLst/>
          </a:prstGeom>
        </p:spPr>
      </p:pic>
      <p:pic>
        <p:nvPicPr>
          <p:cNvPr id="343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782" y="3034665"/>
            <a:ext cx="810769" cy="1159456"/>
          </a:xfrm>
          <a:prstGeom prst="rect">
            <a:avLst/>
          </a:prstGeom>
        </p:spPr>
      </p:pic>
      <p:pic>
        <p:nvPicPr>
          <p:cNvPr id="344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209" y="3538855"/>
            <a:ext cx="326048" cy="311716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EFD7080E-C999-49F6-9AEB-B4D4930B2346}"/>
              </a:ext>
            </a:extLst>
          </p:cNvPr>
          <p:cNvSpPr txBox="1"/>
          <p:nvPr/>
        </p:nvSpPr>
        <p:spPr>
          <a:xfrm>
            <a:off x="3340100" y="4394200"/>
            <a:ext cx="415498" cy="92333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不</a:t>
            </a:r>
            <a:endParaRPr lang="en-US" altLang="zh-CN" dirty="0"/>
          </a:p>
          <a:p>
            <a:r>
              <a:rPr lang="zh-CN" altLang="en-US" dirty="0"/>
              <a:t>要</a:t>
            </a:r>
            <a:endParaRPr lang="en-US" altLang="zh-CN" dirty="0"/>
          </a:p>
          <a:p>
            <a:r>
              <a:rPr lang="zh-CN" altLang="en-US" dirty="0"/>
              <a:t>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6D335B-2B45-47C3-AA41-E6E1E86FD2B8}"/>
              </a:ext>
            </a:extLst>
          </p:cNvPr>
          <p:cNvSpPr txBox="1"/>
          <p:nvPr/>
        </p:nvSpPr>
        <p:spPr>
          <a:xfrm>
            <a:off x="4940300" y="4394200"/>
            <a:ext cx="415498" cy="92333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就</a:t>
            </a:r>
            <a:endParaRPr lang="en-US" altLang="zh-CN" dirty="0"/>
          </a:p>
          <a:p>
            <a:r>
              <a:rPr lang="zh-CN" altLang="en-US" dirty="0"/>
              <a:t>是</a:t>
            </a:r>
            <a:endParaRPr lang="en-US" altLang="zh-CN" dirty="0"/>
          </a:p>
          <a:p>
            <a:r>
              <a:rPr lang="zh-CN" altLang="en-US" dirty="0"/>
              <a:t>干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1ED221-0647-46A3-B776-7B384F8270F5}"/>
              </a:ext>
            </a:extLst>
          </p:cNvPr>
          <p:cNvSpPr txBox="1"/>
          <p:nvPr/>
        </p:nvSpPr>
        <p:spPr>
          <a:xfrm>
            <a:off x="6510867" y="4397374"/>
            <a:ext cx="415498" cy="92333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奥</a:t>
            </a:r>
            <a:endParaRPr lang="en-US" altLang="zh-CN" dirty="0"/>
          </a:p>
          <a:p>
            <a:r>
              <a:rPr lang="zh-CN" altLang="en-US" dirty="0"/>
              <a:t>里</a:t>
            </a:r>
            <a:endParaRPr lang="en-US" altLang="zh-CN" dirty="0"/>
          </a:p>
          <a:p>
            <a:r>
              <a:rPr lang="zh-CN" altLang="en-US" dirty="0"/>
              <a:t>给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" grpId="0" animBg="1"/>
      <p:bldP spid="337" grpId="0" animBg="1"/>
      <p:bldP spid="338" grpId="0" animBg="1"/>
      <p:bldP spid="339" grpId="0" animBg="1"/>
      <p:bldP spid="340" grpId="0" animBg="1"/>
      <p:bldP spid="341" grpId="0" animBg="1"/>
      <p:bldP spid="342" grpId="0" animBg="1"/>
      <p:bldP spid="343" grpId="0" animBg="1"/>
      <p:bldP spid="34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40" y="2767584"/>
            <a:ext cx="3472786" cy="820414"/>
          </a:xfrm>
          <a:prstGeom prst="rect">
            <a:avLst/>
          </a:prstGeom>
        </p:spPr>
      </p:pic>
      <p:sp>
        <p:nvSpPr>
          <p:cNvPr id="348" name="TextBox 2"/>
          <p:cNvSpPr txBox="1"/>
          <p:nvPr/>
        </p:nvSpPr>
        <p:spPr>
          <a:xfrm>
            <a:off x="4354703" y="3060065"/>
            <a:ext cx="2865564" cy="4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latinLnBrk="1"/>
            <a:r>
              <a:rPr lang="en-US" sz="2300">
                <a:solidFill>
                  <a:srgbClr val="000000"/>
                </a:solidFill>
                <a:latin typeface="Microsoft YaHei"/>
                <a:ea typeface="Microsoft YaHei"/>
              </a:rPr>
              <a:t>致谢</a:t>
            </a:r>
            <a:endParaRPr lang="en-US" sz="1100"/>
          </a:p>
        </p:txBody>
      </p:sp>
      <p:pic>
        <p:nvPicPr>
          <p:cNvPr id="349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783" y="1564259"/>
            <a:ext cx="1056390" cy="120351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7" grpId="0" animBg="1"/>
      <p:bldP spid="348" grpId="0" animBg="1"/>
      <p:bldP spid="34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997</TotalTime>
  <Words>510</Words>
  <Application>Microsoft Office PowerPoint</Application>
  <PresentationFormat>自定义</PresentationFormat>
  <Paragraphs>149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6" baseType="lpstr">
      <vt:lpstr>宋体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sybcfq</dc:creator>
  <cp:lastModifiedBy>Min Wang</cp:lastModifiedBy>
  <cp:revision>15</cp:revision>
  <dcterms:created xsi:type="dcterms:W3CDTF">2006-08-16T00:00:00Z</dcterms:created>
  <dcterms:modified xsi:type="dcterms:W3CDTF">2021-04-16T01:40:03Z</dcterms:modified>
</cp:coreProperties>
</file>